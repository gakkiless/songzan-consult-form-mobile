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76250" y="2476500"/>
            <a:ext cx="4762500" cy="4762500"/>
          </a:xfrm>
          <a:prstGeom prst="roundRect">
            <a:avLst>
              <a:gd name="adj" fmla="val 1999800"/>
            </a:avLst>
          </a:prstGeom>
          <a:solidFill>
            <a:srgbClr val="E67C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592050" y="933450"/>
            <a:ext cx="38100" cy="1828800"/>
          </a:xfrm>
          <a:prstGeom prst="rect">
            <a:avLst/>
          </a:prstGeom>
          <a:solidFill>
            <a:srgbClr val="E67C0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439650" y="933450"/>
            <a:ext cx="38100" cy="1219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3476476"/>
            <a:ext cx="38100" cy="1066800"/>
          </a:xfrm>
          <a:prstGeom prst="rect">
            <a:avLst/>
          </a:prstGeom>
          <a:solidFill>
            <a:srgbClr val="E67C00"/>
          </a:solidFill>
          <a:ln/>
        </p:spPr>
      </p:sp>
      <p:sp>
        <p:nvSpPr>
          <p:cNvPr id="7" name="Shape 5"/>
          <p:cNvSpPr/>
          <p:nvPr/>
        </p:nvSpPr>
        <p:spPr>
          <a:xfrm>
            <a:off x="857250" y="5918150"/>
            <a:ext cx="114300" cy="114300"/>
          </a:xfrm>
          <a:prstGeom prst="roundRect">
            <a:avLst>
              <a:gd name="adj" fmla="val 83325000"/>
            </a:avLst>
          </a:prstGeom>
          <a:solidFill>
            <a:srgbClr val="E67C00"/>
          </a:solidFill>
          <a:ln/>
        </p:spPr>
      </p:sp>
      <p:sp>
        <p:nvSpPr>
          <p:cNvPr id="8" name="Shape 6"/>
          <p:cNvSpPr/>
          <p:nvPr/>
        </p:nvSpPr>
        <p:spPr>
          <a:xfrm>
            <a:off x="2419350" y="5880050"/>
            <a:ext cx="9525" cy="19050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9" name="Shape 7"/>
          <p:cNvSpPr/>
          <p:nvPr/>
        </p:nvSpPr>
        <p:spPr>
          <a:xfrm>
            <a:off x="2733675" y="5918150"/>
            <a:ext cx="114300" cy="114300"/>
          </a:xfrm>
          <a:prstGeom prst="roundRect">
            <a:avLst>
              <a:gd name="adj" fmla="val 83325000"/>
            </a:avLst>
          </a:prstGeom>
          <a:solidFill>
            <a:srgbClr val="E67C00"/>
          </a:solidFill>
          <a:ln/>
        </p:spPr>
      </p:sp>
      <p:sp>
        <p:nvSpPr>
          <p:cNvPr id="10" name="Shape 8"/>
          <p:cNvSpPr/>
          <p:nvPr/>
        </p:nvSpPr>
        <p:spPr>
          <a:xfrm>
            <a:off x="4124325" y="5880050"/>
            <a:ext cx="9525" cy="19050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1" name="Text 9"/>
          <p:cNvSpPr/>
          <p:nvPr/>
        </p:nvSpPr>
        <p:spPr>
          <a:xfrm>
            <a:off x="742950" y="2711351"/>
            <a:ext cx="4320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67C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SALES TRAINING GUIDE · V1.0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2950" y="3399383"/>
            <a:ext cx="45262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0"/>
              </a:lnSpc>
              <a:spcBef>
                <a:spcPts val="3618"/>
              </a:spcBef>
              <a:spcAft>
                <a:spcPts val="3618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用户关系助手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42950" y="4716066"/>
            <a:ext cx="45262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191"/>
              </a:spcAft>
              <a:buNone/>
            </a:pPr>
            <a:r>
              <a:rPr lang="en-US" sz="2640" dirty="0">
                <a:solidFill>
                  <a:srgbClr val="BFDB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销售使用培训指南</a:t>
            </a:r>
            <a:endParaRPr lang="en-US" sz="2640" dirty="0"/>
          </a:p>
        </p:txBody>
      </p:sp>
      <p:sp>
        <p:nvSpPr>
          <p:cNvPr id="14" name="Text 12"/>
          <p:cNvSpPr/>
          <p:nvPr/>
        </p:nvSpPr>
        <p:spPr>
          <a:xfrm>
            <a:off x="1085850" y="5841950"/>
            <a:ext cx="1131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全体一线销售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62275" y="584195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销售负责人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438650" y="5841950"/>
            <a:ext cx="90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2026年5月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905000" y="4380756"/>
            <a:ext cx="762000" cy="38100"/>
          </a:xfrm>
          <a:prstGeom prst="rect">
            <a:avLst/>
          </a:prstGeom>
          <a:solidFill>
            <a:srgbClr val="E67C00"/>
          </a:solidFill>
          <a:ln/>
        </p:spPr>
      </p:sp>
      <p:sp>
        <p:nvSpPr>
          <p:cNvPr id="4" name="Shape 2"/>
          <p:cNvSpPr/>
          <p:nvPr/>
        </p:nvSpPr>
        <p:spPr>
          <a:xfrm>
            <a:off x="4629150" y="1743075"/>
            <a:ext cx="533400" cy="533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629150" y="2905125"/>
            <a:ext cx="533400" cy="533400"/>
          </a:xfrm>
          <a:prstGeom prst="rect">
            <a:avLst/>
          </a:prstGeom>
          <a:solidFill>
            <a:srgbClr val="1B3A6B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29150" y="4067175"/>
            <a:ext cx="533400" cy="533400"/>
          </a:xfrm>
          <a:prstGeom prst="rect">
            <a:avLst/>
          </a:prstGeom>
          <a:solidFill>
            <a:srgbClr val="E67C00"/>
          </a:solidFill>
          <a:ln/>
        </p:spPr>
      </p:sp>
      <p:sp>
        <p:nvSpPr>
          <p:cNvPr id="7" name="Shape 5"/>
          <p:cNvSpPr/>
          <p:nvPr/>
        </p:nvSpPr>
        <p:spPr>
          <a:xfrm>
            <a:off x="4629150" y="5229225"/>
            <a:ext cx="533400" cy="533400"/>
          </a:xfrm>
          <a:prstGeom prst="rect">
            <a:avLst/>
          </a:prstGeom>
          <a:solidFill>
            <a:srgbClr val="1B3A6B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629150" y="6391275"/>
            <a:ext cx="533400" cy="533400"/>
          </a:xfrm>
          <a:prstGeom prst="rect">
            <a:avLst/>
          </a:prstGeom>
          <a:solidFill>
            <a:srgbClr val="1B3A6B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15904" y="3389114"/>
            <a:ext cx="1540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67C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79233" y="3847356"/>
            <a:ext cx="16135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1809"/>
              </a:spcBef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培训内容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479233" y="4647456"/>
            <a:ext cx="161353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6"/>
              </a:lnSpc>
              <a:spcBef>
                <a:spcPts val="18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BFDBF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本次培训将帮助你</a:t>
            </a:r>
            <a:endParaRPr lang="en-US" sz="1050" dirty="0"/>
          </a:p>
          <a:p>
            <a:pPr algn="ctr" indent="0" marL="0">
              <a:lnSpc>
                <a:spcPts val="1706"/>
              </a:lnSpc>
              <a:spcBef>
                <a:spcPts val="18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BFDBF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在5分钟内掌握</a:t>
            </a:r>
            <a:endParaRPr lang="en-US" sz="1050" dirty="0"/>
          </a:p>
          <a:p>
            <a:pPr algn="ctr" indent="0" marL="0">
              <a:lnSpc>
                <a:spcPts val="1706"/>
              </a:lnSpc>
              <a:spcBef>
                <a:spcPts val="18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BFDBF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用户关系助手的核心用法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89884" y="1876425"/>
            <a:ext cx="222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43550" y="1714500"/>
            <a:ext cx="7983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这个工具能帮你做什么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43550" y="2171700"/>
            <a:ext cx="7983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工具价值与核心定位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9884" y="3038475"/>
            <a:ext cx="222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43550" y="2876550"/>
            <a:ext cx="7983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界面布局一眼看懂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43550" y="3333750"/>
            <a:ext cx="7983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四个区域，快速定位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89884" y="4200525"/>
            <a:ext cx="222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43550" y="4038600"/>
            <a:ext cx="7983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三大核心功能详解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43550" y="4495800"/>
            <a:ext cx="7983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我的待办 · 维护记录 · 会员查询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89884" y="5362575"/>
            <a:ext cx="222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43550" y="5200650"/>
            <a:ext cx="7983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四个常用操作场景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43550" y="5657850"/>
            <a:ext cx="7983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照着走，不用思考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89884" y="6524625"/>
            <a:ext cx="222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43550" y="6362700"/>
            <a:ext cx="7983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重点提醒 &amp; FAQ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43550" y="6819900"/>
            <a:ext cx="7983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5条必记 + 常见问题解答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344400" y="1267123"/>
            <a:ext cx="990600" cy="762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886670"/>
            <a:ext cx="41338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850" y="3115270"/>
            <a:ext cx="457200" cy="457200"/>
          </a:xfrm>
          <a:prstGeom prst="roundRect">
            <a:avLst>
              <a:gd name="adj" fmla="val 8333"/>
            </a:avLst>
          </a:prstGeom>
          <a:solidFill>
            <a:srgbClr val="1B3A6B"/>
          </a:solidFill>
          <a:ln/>
        </p:spPr>
      </p:sp>
      <p:sp>
        <p:nvSpPr>
          <p:cNvPr id="6" name="Shape 4"/>
          <p:cNvSpPr/>
          <p:nvPr/>
        </p:nvSpPr>
        <p:spPr>
          <a:xfrm>
            <a:off x="704850" y="4829770"/>
            <a:ext cx="3676650" cy="68580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4838700" y="2886670"/>
            <a:ext cx="41338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67300" y="3115270"/>
            <a:ext cx="457200" cy="457200"/>
          </a:xfrm>
          <a:prstGeom prst="roundRect">
            <a:avLst>
              <a:gd name="adj" fmla="val 8333"/>
            </a:avLst>
          </a:prstGeom>
          <a:solidFill>
            <a:srgbClr val="E67C00"/>
          </a:solidFill>
          <a:ln/>
        </p:spPr>
      </p:sp>
      <p:sp>
        <p:nvSpPr>
          <p:cNvPr id="9" name="Shape 7"/>
          <p:cNvSpPr/>
          <p:nvPr/>
        </p:nvSpPr>
        <p:spPr>
          <a:xfrm>
            <a:off x="5067300" y="4829770"/>
            <a:ext cx="3676650" cy="685800"/>
          </a:xfrm>
          <a:prstGeom prst="roundRect">
            <a:avLst>
              <a:gd name="adj" fmla="val 5556"/>
            </a:avLst>
          </a:prstGeom>
          <a:solidFill>
            <a:srgbClr val="FFF7ED"/>
          </a:solidFill>
          <a:ln/>
        </p:spPr>
      </p:sp>
      <p:sp>
        <p:nvSpPr>
          <p:cNvPr id="10" name="Shape 8"/>
          <p:cNvSpPr/>
          <p:nvPr/>
        </p:nvSpPr>
        <p:spPr>
          <a:xfrm>
            <a:off x="9201150" y="2886670"/>
            <a:ext cx="41338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429750" y="3115270"/>
            <a:ext cx="457200" cy="457200"/>
          </a:xfrm>
          <a:prstGeom prst="roundRect">
            <a:avLst>
              <a:gd name="adj" fmla="val 8333"/>
            </a:avLst>
          </a:prstGeom>
          <a:solidFill>
            <a:srgbClr val="2E86C1"/>
          </a:solidFill>
          <a:ln/>
        </p:spPr>
      </p:sp>
      <p:sp>
        <p:nvSpPr>
          <p:cNvPr id="12" name="Shape 10"/>
          <p:cNvSpPr/>
          <p:nvPr/>
        </p:nvSpPr>
        <p:spPr>
          <a:xfrm>
            <a:off x="9429750" y="4829770"/>
            <a:ext cx="3676650" cy="685800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6250" y="5972770"/>
            <a:ext cx="12858750" cy="838200"/>
          </a:xfrm>
          <a:prstGeom prst="roundRect">
            <a:avLst>
              <a:gd name="adj" fmla="val 9091"/>
            </a:avLst>
          </a:prstGeom>
          <a:solidFill>
            <a:srgbClr val="1B3A6B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8650" y="6239470"/>
            <a:ext cx="304800" cy="304800"/>
          </a:xfrm>
          <a:prstGeom prst="roundRect">
            <a:avLst>
              <a:gd name="adj" fmla="val 31246875"/>
            </a:avLst>
          </a:prstGeom>
          <a:solidFill>
            <a:srgbClr val="1B3A6B"/>
          </a:solidFill>
          <a:ln/>
        </p:spPr>
      </p:sp>
      <p:sp>
        <p:nvSpPr>
          <p:cNvPr id="15" name="Text 13"/>
          <p:cNvSpPr/>
          <p:nvPr/>
        </p:nvSpPr>
        <p:spPr>
          <a:xfrm>
            <a:off x="476250" y="1205210"/>
            <a:ext cx="422374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366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它帮你做三件事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476250" y="2010370"/>
            <a:ext cx="4223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用户关系助手 = 管客户 · 记跟进 · 看待办 的一站式工作台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534900" y="1533823"/>
            <a:ext cx="67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工具价值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9150" y="3191470"/>
            <a:ext cx="2400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850" y="3762970"/>
            <a:ext cx="40443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知道今天该联系谁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850" y="4182070"/>
            <a:ext cx="40443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每天打开，左栏「我的待办」告诉你今日优先任务，按红→橙顺序处理，不再遗漏任何跟进。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9150" y="5077420"/>
            <a:ext cx="3792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B3A6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 「我的待办」模块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81600" y="3191470"/>
            <a:ext cx="2400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67300" y="3762970"/>
            <a:ext cx="40443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记录跟进，查找会员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67300" y="4182070"/>
            <a:ext cx="40443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通话后一键新增维护记录，填写反馈与出行需求；随时搜索任意会员档案，历史跟进一目了然。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81600" y="5077420"/>
            <a:ext cx="3792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E67C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 「维护记录」+ 会员查询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44050" y="3191470"/>
            <a:ext cx="2400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29750" y="3762970"/>
            <a:ext cx="40443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掌握重点维护名单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29750" y="4182070"/>
            <a:ext cx="40443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系统自动圈出「优先维护」和「建议维护」客户，点击数字即可查看完整名单，主动触达不靠感觉。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44050" y="5077420"/>
            <a:ext cx="37928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E86C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 复购/首购非核心快捷入口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0002" y="6296620"/>
            <a:ext cx="107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✓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85850" y="6277570"/>
            <a:ext cx="6603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B3A6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数据自动同步：</a:t>
            </a:r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所有操作实时同步会员中台及 CDP，无需二次录入，改一处全链路更新。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420600" y="1122759"/>
            <a:ext cx="914400" cy="609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331244"/>
            <a:ext cx="12858750" cy="1181100"/>
          </a:xfrm>
          <a:prstGeom prst="roundRect">
            <a:avLst>
              <a:gd name="adj" fmla="val 6452"/>
            </a:avLst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11660981" y="2655094"/>
            <a:ext cx="1064419" cy="533400"/>
          </a:xfrm>
          <a:prstGeom prst="roundRect">
            <a:avLst>
              <a:gd name="adj" fmla="val 7143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877800" y="2769394"/>
            <a:ext cx="304800" cy="304800"/>
          </a:xfrm>
          <a:prstGeom prst="roundRect">
            <a:avLst>
              <a:gd name="adj" fmla="val 31246875"/>
            </a:avLst>
          </a:prstGeom>
          <a:solidFill>
            <a:srgbClr val="E67C00"/>
          </a:solidFill>
          <a:ln/>
        </p:spPr>
      </p:sp>
      <p:sp>
        <p:nvSpPr>
          <p:cNvPr id="7" name="Shape 5"/>
          <p:cNvSpPr/>
          <p:nvPr/>
        </p:nvSpPr>
        <p:spPr>
          <a:xfrm>
            <a:off x="476250" y="3626644"/>
            <a:ext cx="12858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409700" y="3740944"/>
            <a:ext cx="1086594" cy="609600"/>
          </a:xfrm>
          <a:prstGeom prst="roundRect">
            <a:avLst>
              <a:gd name="adj" fmla="val 6250"/>
            </a:avLst>
          </a:prstGeom>
          <a:solidFill>
            <a:srgbClr val="1B3A6B"/>
          </a:solidFill>
          <a:ln/>
        </p:spPr>
      </p:sp>
      <p:sp>
        <p:nvSpPr>
          <p:cNvPr id="9" name="Shape 7"/>
          <p:cNvSpPr/>
          <p:nvPr/>
        </p:nvSpPr>
        <p:spPr>
          <a:xfrm>
            <a:off x="2648694" y="3740944"/>
            <a:ext cx="1446758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6250" y="4579144"/>
            <a:ext cx="6477000" cy="3183731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28650" y="4902994"/>
            <a:ext cx="190500" cy="190500"/>
          </a:xfrm>
          <a:prstGeom prst="roundRect">
            <a:avLst>
              <a:gd name="adj" fmla="val 49995000"/>
            </a:avLst>
          </a:prstGeom>
          <a:solidFill>
            <a:srgbClr val="1B3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8650" y="5379244"/>
            <a:ext cx="746224" cy="45720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1074" y="5379244"/>
            <a:ext cx="860524" cy="457200"/>
          </a:xfrm>
          <a:prstGeom prst="roundRect">
            <a:avLst>
              <a:gd name="adj" fmla="val 8333"/>
            </a:avLst>
          </a:prstGeom>
          <a:solidFill>
            <a:srgbClr val="FFEDD5"/>
          </a:solidFill>
          <a:ln/>
        </p:spPr>
      </p:sp>
      <p:sp>
        <p:nvSpPr>
          <p:cNvPr id="14" name="Shape 12"/>
          <p:cNvSpPr/>
          <p:nvPr/>
        </p:nvSpPr>
        <p:spPr>
          <a:xfrm>
            <a:off x="2387798" y="5379244"/>
            <a:ext cx="860524" cy="45720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</p:spPr>
      </p:sp>
      <p:sp>
        <p:nvSpPr>
          <p:cNvPr id="15" name="Shape 13"/>
          <p:cNvSpPr/>
          <p:nvPr/>
        </p:nvSpPr>
        <p:spPr>
          <a:xfrm>
            <a:off x="3324523" y="5379244"/>
            <a:ext cx="746224" cy="4572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" y="5950744"/>
            <a:ext cx="6172200" cy="68580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7067550" y="4579144"/>
            <a:ext cx="6267450" cy="3183731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219950" y="4902994"/>
            <a:ext cx="190500" cy="190500"/>
          </a:xfrm>
          <a:prstGeom prst="roundRect">
            <a:avLst>
              <a:gd name="adj" fmla="val 49995000"/>
            </a:avLst>
          </a:prstGeom>
          <a:solidFill>
            <a:srgbClr val="E67C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219950" y="5379244"/>
            <a:ext cx="1433513" cy="1366838"/>
          </a:xfrm>
          <a:prstGeom prst="roundRect">
            <a:avLst>
              <a:gd name="adj" fmla="val 2787"/>
            </a:avLst>
          </a:prstGeom>
          <a:solidFill>
            <a:srgbClr val="FE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8729663" y="5379244"/>
            <a:ext cx="1433513" cy="1366838"/>
          </a:xfrm>
          <a:prstGeom prst="roundRect">
            <a:avLst>
              <a:gd name="adj" fmla="val 2787"/>
            </a:avLst>
          </a:prstGeom>
          <a:solidFill>
            <a:srgbClr val="FFF7E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39375" y="5379244"/>
            <a:ext cx="1433513" cy="1366838"/>
          </a:xfrm>
          <a:prstGeom prst="roundRect">
            <a:avLst>
              <a:gd name="adj" fmla="val 2787"/>
            </a:avLst>
          </a:prstGeom>
          <a:solidFill>
            <a:srgbClr val="F0FDF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49088" y="5379244"/>
            <a:ext cx="1433513" cy="1366838"/>
          </a:xfrm>
          <a:prstGeom prst="roundRect">
            <a:avLst>
              <a:gd name="adj" fmla="val 2787"/>
            </a:avLst>
          </a:prstGeom>
          <a:solidFill>
            <a:srgbClr val="EFF6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219950" y="6860381"/>
            <a:ext cx="5962650" cy="60960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/>
        </p:spPr>
      </p:sp>
      <p:sp>
        <p:nvSpPr>
          <p:cNvPr id="24" name="Text 22"/>
          <p:cNvSpPr/>
          <p:nvPr/>
        </p:nvSpPr>
        <p:spPr>
          <a:xfrm>
            <a:off x="476250" y="1189434"/>
            <a:ext cx="22631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41"/>
              </a:spcBef>
              <a:spcAft>
                <a:spcPts val="2241"/>
              </a:spcAft>
              <a:buNone/>
            </a:pPr>
            <a:r>
              <a:rPr lang="en-US" sz="2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界面一眼看懂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2611100" y="1332309"/>
            <a:ext cx="5867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界面布局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8650" y="2655094"/>
            <a:ext cx="1131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松赞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8650" y="3131344"/>
            <a:ext cx="11315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67C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用户关系助手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775281" y="2826544"/>
            <a:ext cx="9194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切换销售员 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963525" y="2826544"/>
            <a:ext cx="1466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赵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08526" y="2845594"/>
            <a:ext cx="25288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FDBF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① 顶栏 — 品牌标识 + 销售员切换 + 当前用户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0550" y="3950494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快捷入口：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562100" y="3950494"/>
            <a:ext cx="8599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+ 新建咨询单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01094" y="3950494"/>
            <a:ext cx="12561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B3A6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🔍 会员查询及维护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296501" y="3969544"/>
            <a:ext cx="21166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② 快捷入口条 — 两个最常用操作入口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6750" y="4922044"/>
            <a:ext cx="120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③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5350" y="4883944"/>
            <a:ext cx="1606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B3A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📋 我的待办（左栏）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2950" y="5531644"/>
            <a:ext cx="5693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B91C1C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⚠️ 已过期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65374" y="5531644"/>
            <a:ext cx="6951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2410C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🕐 今日到期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02098" y="5531644"/>
            <a:ext cx="6951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D4ED8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📅 即将到期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38823" y="5531644"/>
            <a:ext cx="5693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5803D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✅ 已完成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2950" y="6198394"/>
            <a:ext cx="65379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每天开工先看这里，红色优先！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258050" y="4922044"/>
            <a:ext cx="120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④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86650" y="4883944"/>
            <a:ext cx="1606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67C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维护记录（右栏）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64122" y="5684044"/>
            <a:ext cx="13451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C262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232094" y="6217444"/>
            <a:ext cx="1409224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38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当年复购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773835" y="5684044"/>
            <a:ext cx="13451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9731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23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741807" y="6217444"/>
            <a:ext cx="1409224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38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当年首购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0283547" y="5684044"/>
            <a:ext cx="13451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6A34A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156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0251519" y="6217444"/>
            <a:ext cx="1409224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38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名下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793260" y="5684044"/>
            <a:ext cx="13451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12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761232" y="6217444"/>
            <a:ext cx="1409224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38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本月维护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296150" y="7069931"/>
            <a:ext cx="639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客户状态仪表盘 + 维护记录列表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235160" y="1313259"/>
            <a:ext cx="1099840" cy="609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3312319"/>
            <a:ext cx="6315075" cy="129540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28650" y="3464719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4760119"/>
            <a:ext cx="6315075" cy="11430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/>
        </p:spPr>
      </p:sp>
      <p:sp>
        <p:nvSpPr>
          <p:cNvPr id="7" name="Shape 5"/>
          <p:cNvSpPr/>
          <p:nvPr/>
        </p:nvSpPr>
        <p:spPr>
          <a:xfrm>
            <a:off x="628650" y="4912519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/>
        </p:spPr>
      </p:sp>
      <p:sp>
        <p:nvSpPr>
          <p:cNvPr id="8" name="Shape 6"/>
          <p:cNvSpPr/>
          <p:nvPr/>
        </p:nvSpPr>
        <p:spPr>
          <a:xfrm>
            <a:off x="476250" y="6055519"/>
            <a:ext cx="6315075" cy="11430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9" name="Shape 7"/>
          <p:cNvSpPr/>
          <p:nvPr/>
        </p:nvSpPr>
        <p:spPr>
          <a:xfrm>
            <a:off x="628650" y="6207919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0A5FA"/>
          </a:solidFill>
          <a:ln/>
        </p:spPr>
      </p:sp>
      <p:sp>
        <p:nvSpPr>
          <p:cNvPr id="10" name="Shape 8"/>
          <p:cNvSpPr/>
          <p:nvPr/>
        </p:nvSpPr>
        <p:spPr>
          <a:xfrm>
            <a:off x="476250" y="7350919"/>
            <a:ext cx="6315075" cy="11430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/>
        </p:spPr>
      </p:sp>
      <p:sp>
        <p:nvSpPr>
          <p:cNvPr id="11" name="Shape 9"/>
          <p:cNvSpPr/>
          <p:nvPr/>
        </p:nvSpPr>
        <p:spPr>
          <a:xfrm>
            <a:off x="628650" y="7503319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/>
        </p:spPr>
      </p:sp>
      <p:sp>
        <p:nvSpPr>
          <p:cNvPr id="12" name="Shape 10"/>
          <p:cNvSpPr/>
          <p:nvPr/>
        </p:nvSpPr>
        <p:spPr>
          <a:xfrm>
            <a:off x="7019925" y="2712244"/>
            <a:ext cx="6315075" cy="314325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210425" y="3588544"/>
            <a:ext cx="266700" cy="266700"/>
          </a:xfrm>
          <a:prstGeom prst="roundRect">
            <a:avLst>
              <a:gd name="adj" fmla="val 35710714"/>
            </a:avLst>
          </a:prstGeom>
          <a:solidFill>
            <a:srgbClr val="1B3A6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10425" y="4160044"/>
            <a:ext cx="266700" cy="266700"/>
          </a:xfrm>
          <a:prstGeom prst="roundRect">
            <a:avLst>
              <a:gd name="adj" fmla="val 35710714"/>
            </a:avLst>
          </a:prstGeom>
          <a:solidFill>
            <a:srgbClr val="1B3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7210425" y="4731544"/>
            <a:ext cx="266700" cy="266700"/>
          </a:xfrm>
          <a:prstGeom prst="roundRect">
            <a:avLst>
              <a:gd name="adj" fmla="val 35710714"/>
            </a:avLst>
          </a:prstGeom>
          <a:solidFill>
            <a:srgbClr val="1B3A6B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0425" y="5303044"/>
            <a:ext cx="266700" cy="266700"/>
          </a:xfrm>
          <a:prstGeom prst="roundRect">
            <a:avLst>
              <a:gd name="adj" fmla="val 35710714"/>
            </a:avLst>
          </a:prstGeom>
          <a:solidFill>
            <a:srgbClr val="E67C00"/>
          </a:solidFill>
          <a:ln/>
        </p:spPr>
      </p:sp>
      <p:sp>
        <p:nvSpPr>
          <p:cNvPr id="17" name="Shape 15"/>
          <p:cNvSpPr/>
          <p:nvPr/>
        </p:nvSpPr>
        <p:spPr>
          <a:xfrm>
            <a:off x="7019925" y="6007894"/>
            <a:ext cx="6315075" cy="2026444"/>
          </a:xfrm>
          <a:prstGeom prst="roundRect">
            <a:avLst>
              <a:gd name="adj" fmla="val 3760"/>
            </a:avLst>
          </a:prstGeom>
          <a:solidFill>
            <a:srgbClr val="FFFBEB"/>
          </a:solidFill>
          <a:ln/>
        </p:spPr>
      </p:sp>
      <p:sp>
        <p:nvSpPr>
          <p:cNvPr id="18" name="Shape 16"/>
          <p:cNvSpPr/>
          <p:nvPr/>
        </p:nvSpPr>
        <p:spPr>
          <a:xfrm>
            <a:off x="7210425" y="7234238"/>
            <a:ext cx="5934075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6250" y="1189434"/>
            <a:ext cx="45262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41"/>
              </a:spcBef>
              <a:spcAft>
                <a:spcPts val="2241"/>
              </a:spcAft>
              <a:buNone/>
            </a:pPr>
            <a:r>
              <a:rPr lang="en-US" sz="2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我的待办：每天从这里开始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476250" y="1950244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打开系统第一件事 → 看左栏待办，按颜色处理优先级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425660" y="1522809"/>
            <a:ext cx="7907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核心功能 01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6250" y="2883694"/>
            <a:ext cx="69465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个 Tab，颜色即优先级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2475" y="3559969"/>
            <a:ext cx="2200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⚠️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8250" y="3617119"/>
            <a:ext cx="109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已过期 — 红色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51633" y="3636169"/>
            <a:ext cx="79629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今日最优先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8250" y="4131469"/>
            <a:ext cx="27870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超过截止日期未处理，立即跟进，不能拖延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2475" y="5007769"/>
            <a:ext cx="2200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8250" y="5064919"/>
            <a:ext cx="1760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今日到期 — 橙色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8250" y="5426869"/>
            <a:ext cx="17602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今天必须完成，不留到明天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52475" y="6303169"/>
            <a:ext cx="2200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📅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38250" y="6360319"/>
            <a:ext cx="24936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即将到期 — 蓝色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38250" y="6722269"/>
            <a:ext cx="24936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未来几天内到期，提前准备话术和方案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2475" y="7598569"/>
            <a:ext cx="2200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✅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38250" y="7655719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标记完成 — 绿色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38250" y="8017669"/>
            <a:ext cx="23469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已完成的记录，可查看历史跟进详情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10425" y="3074194"/>
            <a:ext cx="65274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📌 操作说明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306568" y="3626644"/>
            <a:ext cx="779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91425" y="3626644"/>
            <a:ext cx="1173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点击任意待办卡片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06568" y="4198144"/>
            <a:ext cx="779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91425" y="4198144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弹出维护记录详情面板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06568" y="4769644"/>
            <a:ext cx="779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591425" y="4769644"/>
            <a:ext cx="2053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可直接查看历史记录或编辑更新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06568" y="5341144"/>
            <a:ext cx="779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4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591425" y="5341144"/>
            <a:ext cx="16135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处理完毕后手动标记完成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210425" y="6341269"/>
            <a:ext cx="2200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9E0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⚠️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496175" y="6360319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9240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重要提醒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7210425" y="6884194"/>
            <a:ext cx="6527483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系统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不会自动发微信通知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，需要你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主动登录查看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待办。建议每天上班第一件事打开系统，养成习惯。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24725" y="7462838"/>
            <a:ext cx="62760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待办由「新增维护记录」时填写的提醒事项自动生成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578376" y="3590330"/>
            <a:ext cx="609600" cy="9525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7623125" y="3590330"/>
            <a:ext cx="609600" cy="9525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6325768" y="3461742"/>
            <a:ext cx="1159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3A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 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45658" y="3996333"/>
            <a:ext cx="291978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111"/>
              </a:spcBef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11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维护记录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5445658" y="4748808"/>
            <a:ext cx="29197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管好客户的唯一数据来源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235160" y="1313259"/>
            <a:ext cx="1099840" cy="609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712244"/>
            <a:ext cx="3071813" cy="361473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6250" y="2712244"/>
            <a:ext cx="3071813" cy="18859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628650" y="5641181"/>
            <a:ext cx="2767013" cy="533400"/>
          </a:xfrm>
          <a:prstGeom prst="roundRect">
            <a:avLst>
              <a:gd name="adj" fmla="val 7143"/>
            </a:avLst>
          </a:prstGeom>
          <a:solidFill>
            <a:srgbClr val="FEF2F2"/>
          </a:solidFill>
          <a:ln/>
        </p:spPr>
      </p:sp>
      <p:sp>
        <p:nvSpPr>
          <p:cNvPr id="7" name="Shape 5"/>
          <p:cNvSpPr/>
          <p:nvPr/>
        </p:nvSpPr>
        <p:spPr>
          <a:xfrm>
            <a:off x="3738563" y="2712244"/>
            <a:ext cx="3071813" cy="361473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38563" y="2712244"/>
            <a:ext cx="3071813" cy="188595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9" name="Shape 7"/>
          <p:cNvSpPr/>
          <p:nvPr/>
        </p:nvSpPr>
        <p:spPr>
          <a:xfrm>
            <a:off x="3890962" y="5641181"/>
            <a:ext cx="2767013" cy="533400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/>
        </p:spPr>
      </p:sp>
      <p:sp>
        <p:nvSpPr>
          <p:cNvPr id="10" name="Shape 8"/>
          <p:cNvSpPr/>
          <p:nvPr/>
        </p:nvSpPr>
        <p:spPr>
          <a:xfrm>
            <a:off x="7000875" y="2712244"/>
            <a:ext cx="3071813" cy="361473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00875" y="2712244"/>
            <a:ext cx="3071813" cy="188595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3188" y="2712244"/>
            <a:ext cx="3071813" cy="361473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263188" y="2712244"/>
            <a:ext cx="3071813" cy="18859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6250" y="6555581"/>
            <a:ext cx="12858750" cy="1245394"/>
          </a:xfrm>
          <a:prstGeom prst="roundRect">
            <a:avLst>
              <a:gd name="adj" fmla="val 9178"/>
            </a:avLst>
          </a:prstGeom>
          <a:solidFill>
            <a:srgbClr val="FFFBEB"/>
          </a:solidFill>
          <a:ln/>
        </p:spPr>
      </p:sp>
      <p:sp>
        <p:nvSpPr>
          <p:cNvPr id="15" name="Shape 13"/>
          <p:cNvSpPr/>
          <p:nvPr/>
        </p:nvSpPr>
        <p:spPr>
          <a:xfrm>
            <a:off x="666750" y="6746081"/>
            <a:ext cx="381000" cy="381000"/>
          </a:xfrm>
          <a:prstGeom prst="roundRect">
            <a:avLst>
              <a:gd name="adj" fmla="val 24997500"/>
            </a:avLst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476250" y="1189434"/>
            <a:ext cx="49034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41"/>
              </a:spcBef>
              <a:spcAft>
                <a:spcPts val="2241"/>
              </a:spcAft>
              <a:buNone/>
            </a:pPr>
            <a:r>
              <a:rPr lang="en-US" sz="2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四个数字，看懂你的客户状况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76250" y="1950244"/>
            <a:ext cx="4903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维护记录顶部的客户状态仪表盘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425660" y="1522809"/>
            <a:ext cx="7907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核心功能 02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9475" y="3264694"/>
            <a:ext cx="2905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8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490299" y="4121944"/>
            <a:ext cx="3043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EE2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🔴 当年复购非核心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8650" y="4750594"/>
            <a:ext cx="67056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优先维护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76350" y="4750594"/>
            <a:ext cx="628650" cy="190500"/>
          </a:xfrm>
          <a:prstGeom prst="rect">
            <a:avLst/>
          </a:prstGeom>
          <a:noFill/>
          <a:ln/>
        </p:spPr>
        <p:txBody>
          <a:bodyPr wrap="square" lIns="57150" tIns="19050" rIns="57150" bIns="1905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每周必看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8650" y="5074444"/>
            <a:ext cx="30437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今年已下单但无复购迹象的客户，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主动触达信号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4119" y="5831681"/>
            <a:ext cx="28760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C262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👉 点击数字查看名单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21787" y="3264694"/>
            <a:ext cx="2905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23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3752612" y="4121944"/>
            <a:ext cx="3043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ED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🟠 当年首购非核心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90962" y="4750594"/>
            <a:ext cx="67056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建议维护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38663" y="4750594"/>
            <a:ext cx="754380" cy="190500"/>
          </a:xfrm>
          <a:prstGeom prst="rect">
            <a:avLst/>
          </a:prstGeom>
          <a:noFill/>
          <a:ln/>
        </p:spPr>
        <p:txBody>
          <a:bodyPr wrap="square" lIns="57150" tIns="19050" rIns="57150" bIns="1905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9731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潜力客户池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90962" y="5074444"/>
            <a:ext cx="30437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今年首次下单、尚未深度激活，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EA580C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你最大的增长来源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36432" y="5831681"/>
            <a:ext cx="28760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A580C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👉 点击数字查看名单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84100" y="3264694"/>
            <a:ext cx="2905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156</a:t>
            </a:r>
            <a:endParaRPr lang="en-US" sz="3150" dirty="0"/>
          </a:p>
        </p:txBody>
      </p:sp>
      <p:sp>
        <p:nvSpPr>
          <p:cNvPr id="32" name="Text 30"/>
          <p:cNvSpPr/>
          <p:nvPr/>
        </p:nvSpPr>
        <p:spPr>
          <a:xfrm>
            <a:off x="7014924" y="4121944"/>
            <a:ext cx="3043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CFCE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🟢 名下会员数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53275" y="4760119"/>
            <a:ext cx="544830" cy="17145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仅展示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3275" y="5055394"/>
            <a:ext cx="30437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你负责的全部会员总数，不可点击，用于了解管理规模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346412" y="3264694"/>
            <a:ext cx="2905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12</a:t>
            </a:r>
            <a:endParaRPr lang="en-US" sz="3150" dirty="0"/>
          </a:p>
        </p:txBody>
      </p:sp>
      <p:sp>
        <p:nvSpPr>
          <p:cNvPr id="36" name="Text 34"/>
          <p:cNvSpPr/>
          <p:nvPr/>
        </p:nvSpPr>
        <p:spPr>
          <a:xfrm>
            <a:off x="10277237" y="4121944"/>
            <a:ext cx="3043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BEA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🔵 本月维护次数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415588" y="4760119"/>
            <a:ext cx="544830" cy="17145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仅展示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415588" y="5055394"/>
            <a:ext cx="3043714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本月已记录的维护行为次数，反映你的活跃度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7238" y="6803231"/>
            <a:ext cx="210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💡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200150" y="6898481"/>
            <a:ext cx="6454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78350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重点提示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00150" y="7260431"/>
            <a:ext cx="645414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红色和橙色是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主动触达信号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，不是被动等待——建议每周至少消化一遍这两个数字背后的客户名单。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235160" y="1313259"/>
            <a:ext cx="1099840" cy="609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3226594"/>
            <a:ext cx="90106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0550" y="3340894"/>
            <a:ext cx="266700" cy="266700"/>
          </a:xfrm>
          <a:prstGeom prst="roundRect">
            <a:avLst>
              <a:gd name="adj" fmla="val 35710714"/>
            </a:avLst>
          </a:prstGeom>
          <a:solidFill>
            <a:srgbClr val="1B3A6B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4274344"/>
            <a:ext cx="90106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90550" y="4388644"/>
            <a:ext cx="266700" cy="266700"/>
          </a:xfrm>
          <a:prstGeom prst="roundRect">
            <a:avLst>
              <a:gd name="adj" fmla="val 35710714"/>
            </a:avLst>
          </a:prstGeom>
          <a:solidFill>
            <a:srgbClr val="1B3A6B"/>
          </a:solidFill>
          <a:ln/>
        </p:spPr>
      </p:sp>
      <p:sp>
        <p:nvSpPr>
          <p:cNvPr id="8" name="Shape 6"/>
          <p:cNvSpPr/>
          <p:nvPr/>
        </p:nvSpPr>
        <p:spPr>
          <a:xfrm>
            <a:off x="476250" y="5322094"/>
            <a:ext cx="90106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90550" y="5436394"/>
            <a:ext cx="266700" cy="266700"/>
          </a:xfrm>
          <a:prstGeom prst="roundRect">
            <a:avLst>
              <a:gd name="adj" fmla="val 35710714"/>
            </a:avLst>
          </a:prstGeom>
          <a:solidFill>
            <a:srgbClr val="1B3A6B"/>
          </a:solidFill>
          <a:ln/>
        </p:spPr>
      </p:sp>
      <p:sp>
        <p:nvSpPr>
          <p:cNvPr id="10" name="Shape 8"/>
          <p:cNvSpPr/>
          <p:nvPr/>
        </p:nvSpPr>
        <p:spPr>
          <a:xfrm>
            <a:off x="476250" y="6369844"/>
            <a:ext cx="90106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90550" y="6484144"/>
            <a:ext cx="266700" cy="266700"/>
          </a:xfrm>
          <a:prstGeom prst="roundRect">
            <a:avLst>
              <a:gd name="adj" fmla="val 35710714"/>
            </a:avLst>
          </a:prstGeom>
          <a:solidFill>
            <a:srgbClr val="E67C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76250" y="7417594"/>
            <a:ext cx="90106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0550" y="7531894"/>
            <a:ext cx="266700" cy="266700"/>
          </a:xfrm>
          <a:prstGeom prst="roundRect">
            <a:avLst>
              <a:gd name="adj" fmla="val 35710714"/>
            </a:avLst>
          </a:prstGeom>
          <a:solidFill>
            <a:srgbClr val="E67C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76250" y="8465344"/>
            <a:ext cx="90106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0550" y="8579644"/>
            <a:ext cx="266700" cy="266700"/>
          </a:xfrm>
          <a:prstGeom prst="roundRect">
            <a:avLst>
              <a:gd name="adj" fmla="val 35710714"/>
            </a:avLst>
          </a:prstGeom>
          <a:solidFill>
            <a:srgbClr val="2E86C1"/>
          </a:solidFill>
          <a:ln/>
        </p:spPr>
      </p:sp>
      <p:sp>
        <p:nvSpPr>
          <p:cNvPr id="16" name="Shape 14"/>
          <p:cNvSpPr/>
          <p:nvPr/>
        </p:nvSpPr>
        <p:spPr>
          <a:xfrm>
            <a:off x="476250" y="9513094"/>
            <a:ext cx="90106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0550" y="9627394"/>
            <a:ext cx="266700" cy="266700"/>
          </a:xfrm>
          <a:prstGeom prst="roundRect">
            <a:avLst>
              <a:gd name="adj" fmla="val 35710714"/>
            </a:avLst>
          </a:prstGeom>
          <a:solidFill>
            <a:srgbClr val="2E86C1"/>
          </a:solidFill>
          <a:ln/>
        </p:spPr>
      </p:sp>
      <p:sp>
        <p:nvSpPr>
          <p:cNvPr id="18" name="Shape 16"/>
          <p:cNvSpPr/>
          <p:nvPr/>
        </p:nvSpPr>
        <p:spPr>
          <a:xfrm>
            <a:off x="9715500" y="2674144"/>
            <a:ext cx="3619500" cy="2324100"/>
          </a:xfrm>
          <a:prstGeom prst="roundRect">
            <a:avLst>
              <a:gd name="adj" fmla="val 4918"/>
            </a:avLst>
          </a:prstGeom>
          <a:solidFill>
            <a:srgbClr val="FFFBEB"/>
          </a:solidFill>
          <a:ln/>
        </p:spPr>
      </p:sp>
      <p:sp>
        <p:nvSpPr>
          <p:cNvPr id="19" name="Shape 17"/>
          <p:cNvSpPr/>
          <p:nvPr/>
        </p:nvSpPr>
        <p:spPr>
          <a:xfrm>
            <a:off x="9715500" y="5150644"/>
            <a:ext cx="3619500" cy="1981200"/>
          </a:xfrm>
          <a:prstGeom prst="roundRect">
            <a:avLst>
              <a:gd name="adj" fmla="val 5769"/>
            </a:avLst>
          </a:prstGeom>
          <a:solidFill>
            <a:srgbClr val="1B3A6B">
              <a:alpha val="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6250" y="1189434"/>
            <a:ext cx="433555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41"/>
              </a:spcBef>
              <a:spcAft>
                <a:spcPts val="2241"/>
              </a:spcAft>
              <a:buNone/>
            </a:pPr>
            <a:r>
              <a:rPr lang="en-US" sz="2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如何新增维护记录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476250" y="1950244"/>
            <a:ext cx="4335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入口：右栏右上角「+ 新增维护记录」或通过会员查询进入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425660" y="1522809"/>
            <a:ext cx="7907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核心功能 02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6250" y="2836069"/>
            <a:ext cx="99117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37415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📋 7 步操作流程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686693" y="3378994"/>
            <a:ext cx="779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71550" y="3474244"/>
            <a:ext cx="13656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点击按钮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71550" y="3798094"/>
            <a:ext cx="1365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点击「+ 新增维护记录」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6693" y="4426744"/>
            <a:ext cx="779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71550" y="4521994"/>
            <a:ext cx="1005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选择会员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1550" y="4845844"/>
            <a:ext cx="10058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选择要记录的会员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6693" y="5474494"/>
            <a:ext cx="779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71550" y="5569744"/>
            <a:ext cx="754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填写日期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71550" y="5893594"/>
            <a:ext cx="7543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填写维护日期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6693" y="6522244"/>
            <a:ext cx="779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1550" y="6617494"/>
            <a:ext cx="23261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选择维护行为 </a:t>
            </a:r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*必填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71550" y="6941344"/>
            <a:ext cx="23261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线下拜访 / 电话回访 / 活动邀约 / 微信沟通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6693" y="7569994"/>
            <a:ext cx="779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71550" y="7665244"/>
            <a:ext cx="2011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填写客户反馈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71550" y="7989094"/>
            <a:ext cx="2011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尽量详细，是日后回顾客情唯一依据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6693" y="8617744"/>
            <a:ext cx="779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71550" y="8712994"/>
            <a:ext cx="28359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填写出行需求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71550" y="9036844"/>
            <a:ext cx="28359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时节、组合、预算、天数、偏好 — 是你的销售素材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6693" y="9665494"/>
            <a:ext cx="779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7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71550" y="9760744"/>
            <a:ext cx="22631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设置提醒 → 保存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71550" y="10084594"/>
            <a:ext cx="2263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填写提醒事项和时间，系统自动生成待办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906000" y="3007519"/>
            <a:ext cx="2200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9E0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⚠️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191750" y="3026569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9240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重要提醒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9906000" y="3550444"/>
            <a:ext cx="3238500" cy="11239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500"/>
              </a:lnSpc>
              <a:buSzPct val="100000"/>
              <a:buChar char="•"/>
            </a:pP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维护行为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必须填写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（红色星号项），不可为空</a:t>
            </a:r>
            <a:endParaRPr lang="en-US" sz="1050" dirty="0"/>
          </a:p>
          <a:p>
            <a:pPr algn="l" marL="190500" indent="-190500">
              <a:lnSpc>
                <a:spcPts val="1500"/>
              </a:lnSpc>
              <a:buSzPct val="100000"/>
              <a:buChar char="•"/>
            </a:pP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出行需求建议尽量填完整，是给你自己的销售素材</a:t>
            </a:r>
            <a:endParaRPr lang="en-US" sz="1050" dirty="0"/>
          </a:p>
          <a:p>
            <a:pPr algn="l" marL="190500" indent="-190500">
              <a:lnSpc>
                <a:spcPts val="1500"/>
              </a:lnSpc>
              <a:buSzPct val="100000"/>
              <a:buChar char="•"/>
            </a:pP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所有操作记录留存于操作日志，不可删除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906000" y="5484019"/>
            <a:ext cx="210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3A6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💡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0182225" y="5503069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1B3A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操作技巧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9906000" y="6026944"/>
            <a:ext cx="3238500" cy="7810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B3A6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通话结束后立即记录，趁记忆新鲜</a:t>
            </a:r>
            <a:endParaRPr lang="en-US" sz="1050" dirty="0"/>
          </a:p>
          <a:p>
            <a:pPr algn="l" marL="190500" indent="-1905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B3A6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客户反馈写具体，别只写"已联系"</a:t>
            </a:r>
            <a:endParaRPr lang="en-US" sz="1050" dirty="0"/>
          </a:p>
          <a:p>
            <a:pPr algn="l" marL="190500" indent="-1905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B3A6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有跟进才有数据，有数据才有转化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235160" y="1313259"/>
            <a:ext cx="1099840" cy="609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674144"/>
            <a:ext cx="6334125" cy="1959769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6750" y="2964656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/>
        </p:spPr>
      </p:sp>
      <p:sp>
        <p:nvSpPr>
          <p:cNvPr id="6" name="Shape 4"/>
          <p:cNvSpPr/>
          <p:nvPr/>
        </p:nvSpPr>
        <p:spPr>
          <a:xfrm>
            <a:off x="666750" y="3910013"/>
            <a:ext cx="5953125" cy="5334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000875" y="2674144"/>
            <a:ext cx="6334125" cy="1959769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91375" y="2964656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67C00"/>
          </a:solidFill>
          <a:ln/>
        </p:spPr>
      </p:sp>
      <p:sp>
        <p:nvSpPr>
          <p:cNvPr id="9" name="Shape 7"/>
          <p:cNvSpPr/>
          <p:nvPr/>
        </p:nvSpPr>
        <p:spPr>
          <a:xfrm>
            <a:off x="7191375" y="3910013"/>
            <a:ext cx="5953125" cy="533400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/>
        </p:spPr>
      </p:sp>
      <p:sp>
        <p:nvSpPr>
          <p:cNvPr id="10" name="Shape 8"/>
          <p:cNvSpPr/>
          <p:nvPr/>
        </p:nvSpPr>
        <p:spPr>
          <a:xfrm>
            <a:off x="476250" y="4824413"/>
            <a:ext cx="6334125" cy="1959769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6750" y="51149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E86C1"/>
          </a:solidFill>
          <a:ln/>
        </p:spPr>
      </p:sp>
      <p:sp>
        <p:nvSpPr>
          <p:cNvPr id="12" name="Shape 10"/>
          <p:cNvSpPr/>
          <p:nvPr/>
        </p:nvSpPr>
        <p:spPr>
          <a:xfrm>
            <a:off x="666750" y="6060281"/>
            <a:ext cx="5953125" cy="53340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000875" y="4824413"/>
            <a:ext cx="6334125" cy="1959769"/>
          </a:xfrm>
          <a:prstGeom prst="roundRect">
            <a:avLst>
              <a:gd name="adj" fmla="val 58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91375" y="51149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91375" y="6060281"/>
            <a:ext cx="5953125" cy="533400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76250" y="6974681"/>
            <a:ext cx="12858750" cy="1416844"/>
          </a:xfrm>
          <a:prstGeom prst="roundRect">
            <a:avLst>
              <a:gd name="adj" fmla="val 8067"/>
            </a:avLst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476250" y="1189434"/>
            <a:ext cx="327372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41"/>
              </a:spcBef>
              <a:spcAft>
                <a:spcPts val="2241"/>
              </a:spcAft>
              <a:buNone/>
            </a:pPr>
            <a:r>
              <a:rPr lang="en-US" sz="2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会员查询及维护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476250" y="1950244"/>
            <a:ext cx="3273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入口：顶部快捷入口「🔍 会员查询及维护」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25660" y="1522809"/>
            <a:ext cx="7907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核心功能 03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7238" y="3021806"/>
            <a:ext cx="210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🔍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62050" y="3036094"/>
            <a:ext cx="7543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搜索会员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6750" y="3579019"/>
            <a:ext cx="654843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输入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姓名、卡号或手机号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即可快速定位目标会员，无需记忆完整信息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2950" y="4100513"/>
            <a:ext cx="6380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支持模糊搜索，部分匹配即可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81863" y="3021806"/>
            <a:ext cx="210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📋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686675" y="3036094"/>
            <a:ext cx="11315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查看完整档案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91375" y="3579019"/>
            <a:ext cx="654843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查看会员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等级、归属销售、累计消费、最近联系记录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，全貌一目了然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67575" y="4100513"/>
            <a:ext cx="6380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EA580C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支持快速浏览历史维护记录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7238" y="5172075"/>
            <a:ext cx="210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✏️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62050" y="5186363"/>
            <a:ext cx="11315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修改会员信息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66750" y="5729288"/>
            <a:ext cx="654843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修改会员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姓名或所在地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，修改后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E86C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实时同步 CDP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，无需额外操作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2950" y="6250781"/>
            <a:ext cx="6380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563E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同步范围：会员中台 + CDP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81863" y="5172075"/>
            <a:ext cx="210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👤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686675" y="5186363"/>
            <a:ext cx="13515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 / 新增记录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191375" y="5729288"/>
            <a:ext cx="654843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认领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无归属销售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的会员，或为该会员新增维护记录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67575" y="6250781"/>
            <a:ext cx="6380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6A34A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已归属会员显示灰色「✓ 不可认领」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6750" y="7308056"/>
            <a:ext cx="210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F4444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⚠️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42975" y="7327106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991B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认领须知：请谨慎操作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666750" y="7850981"/>
            <a:ext cx="1372552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认领后该会员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归属于你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，业绩和维护责任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同步转移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，不可回退。已有归属销售的会员按钮显示灰色「✓ 已有归属销售」，无法认领。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420600" y="1313259"/>
            <a:ext cx="914400" cy="609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674144"/>
            <a:ext cx="6334125" cy="2449116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6750" y="2964656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000875" y="2674144"/>
            <a:ext cx="6334125" cy="2449116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91375" y="2964656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/>
        </p:spPr>
      </p:sp>
      <p:sp>
        <p:nvSpPr>
          <p:cNvPr id="8" name="Shape 6"/>
          <p:cNvSpPr/>
          <p:nvPr/>
        </p:nvSpPr>
        <p:spPr>
          <a:xfrm>
            <a:off x="476250" y="5313759"/>
            <a:ext cx="6334125" cy="2449116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6750" y="560427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B923C"/>
          </a:solidFill>
          <a:ln/>
        </p:spPr>
      </p:sp>
      <p:sp>
        <p:nvSpPr>
          <p:cNvPr id="10" name="Shape 8"/>
          <p:cNvSpPr/>
          <p:nvPr/>
        </p:nvSpPr>
        <p:spPr>
          <a:xfrm>
            <a:off x="7000875" y="5313759"/>
            <a:ext cx="6334125" cy="2449116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91375" y="560427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476250" y="1189434"/>
            <a:ext cx="30175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41"/>
              </a:spcBef>
              <a:spcAft>
                <a:spcPts val="2241"/>
              </a:spcAft>
              <a:buNone/>
            </a:pPr>
            <a:r>
              <a:rPr lang="en-US" sz="2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四个常用操作场景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76250" y="19502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学会这四招，工具就用起来了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611100" y="1522809"/>
            <a:ext cx="5867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操作指南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2985" y="3059906"/>
            <a:ext cx="155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62050" y="3036094"/>
            <a:ext cx="18859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今天要跟进哪些客户？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6750" y="3559969"/>
            <a:ext cx="419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左栏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3950" y="3579019"/>
            <a:ext cx="140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33500" y="3559969"/>
            <a:ext cx="54483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B91C1C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已过期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05000" y="3579019"/>
            <a:ext cx="140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14550" y="3559969"/>
            <a:ext cx="67056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今日到期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6750" y="4074319"/>
            <a:ext cx="654843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打开系统先看左栏，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红色最优先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，依次处理红色→橙色→蓝色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6750" y="4789884"/>
            <a:ext cx="6951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🕐 每日习惯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07610" y="3059906"/>
            <a:ext cx="155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86675" y="3036094"/>
            <a:ext cx="20745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通完电话，记录跟进结果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91375" y="3559969"/>
            <a:ext cx="67056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快捷入口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77175" y="3579019"/>
            <a:ext cx="140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86725" y="3559969"/>
            <a:ext cx="67056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会员查询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2525" y="3579019"/>
            <a:ext cx="140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82075" y="3559969"/>
            <a:ext cx="778937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5803D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+ 新增记录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91375" y="4074319"/>
            <a:ext cx="654843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通话结束立即搜索会员，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趁记忆新鲜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填写维护行为和客户反馈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91375" y="4789884"/>
            <a:ext cx="8208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📞 每次通话后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2985" y="5699522"/>
            <a:ext cx="155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62050" y="5675709"/>
            <a:ext cx="18859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本周主动开发潜力客户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66750" y="6199584"/>
            <a:ext cx="419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右栏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3950" y="6218634"/>
            <a:ext cx="140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333500" y="6199584"/>
            <a:ext cx="79629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首购非核心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33600" y="6218634"/>
            <a:ext cx="140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343150" y="6199584"/>
            <a:ext cx="117348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名单→详情→新增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6750" y="6713934"/>
            <a:ext cx="654843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每周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主动查看橙色数字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背后的客户，不坐等客户找上门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66750" y="7429500"/>
            <a:ext cx="6951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📅 每周一次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07610" y="5699522"/>
            <a:ext cx="1558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04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86675" y="5675709"/>
            <a:ext cx="16973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查看自己的操作历史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191375" y="6199584"/>
            <a:ext cx="419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右栏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48575" y="6218634"/>
            <a:ext cx="140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58125" y="6199584"/>
            <a:ext cx="54483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右上角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29625" y="6218634"/>
            <a:ext cx="140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639175" y="6199584"/>
            <a:ext cx="862757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📋 操作日志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91375" y="6713934"/>
            <a:ext cx="654843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所有操作自动留痕，一键查看自己的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操作时间和内容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191375" y="7429500"/>
            <a:ext cx="6951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📝 随时查询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724525" y="3590330"/>
            <a:ext cx="609600" cy="9525"/>
          </a:xfrm>
          <a:prstGeom prst="rect">
            <a:avLst/>
          </a:prstGeom>
          <a:solidFill>
            <a:srgbClr val="E67C00"/>
          </a:solidFill>
          <a:ln/>
        </p:spPr>
      </p:sp>
      <p:sp>
        <p:nvSpPr>
          <p:cNvPr id="4" name="Shape 2"/>
          <p:cNvSpPr/>
          <p:nvPr/>
        </p:nvSpPr>
        <p:spPr>
          <a:xfrm>
            <a:off x="7477125" y="3590330"/>
            <a:ext cx="609600" cy="9525"/>
          </a:xfrm>
          <a:prstGeom prst="rect">
            <a:avLst/>
          </a:prstGeom>
          <a:solidFill>
            <a:srgbClr val="E67C00"/>
          </a:solidFill>
          <a:ln/>
        </p:spPr>
      </p:sp>
      <p:sp>
        <p:nvSpPr>
          <p:cNvPr id="5" name="Text 3"/>
          <p:cNvSpPr/>
          <p:nvPr/>
        </p:nvSpPr>
        <p:spPr>
          <a:xfrm>
            <a:off x="6486525" y="3461742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7C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培训总结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06415" y="3996333"/>
            <a:ext cx="259842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111"/>
              </a:spcBef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11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重点提醒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5606415" y="4748808"/>
            <a:ext cx="25984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4B55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 5 条，新手必记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420600" y="1313259"/>
            <a:ext cx="914400" cy="609600"/>
          </a:xfrm>
          <a:prstGeom prst="rect">
            <a:avLst/>
          </a:prstGeom>
          <a:solidFill>
            <a:srgbClr val="E67C00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674144"/>
            <a:ext cx="12858750" cy="1112044"/>
          </a:xfrm>
          <a:prstGeom prst="roundRect">
            <a:avLst>
              <a:gd name="adj" fmla="val 10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8650" y="2826544"/>
            <a:ext cx="381000" cy="381000"/>
          </a:xfrm>
          <a:prstGeom prst="roundRect">
            <a:avLst>
              <a:gd name="adj" fmla="val 24997500"/>
            </a:avLst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3900488"/>
            <a:ext cx="12858750" cy="1112044"/>
          </a:xfrm>
          <a:prstGeom prst="roundRect">
            <a:avLst>
              <a:gd name="adj" fmla="val 10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8650" y="4052888"/>
            <a:ext cx="381000" cy="381000"/>
          </a:xfrm>
          <a:prstGeom prst="roundRect">
            <a:avLst>
              <a:gd name="adj" fmla="val 24997500"/>
            </a:avLst>
          </a:prstGeom>
          <a:solidFill>
            <a:srgbClr val="FB923C"/>
          </a:solidFill>
          <a:ln/>
        </p:spPr>
      </p:sp>
      <p:sp>
        <p:nvSpPr>
          <p:cNvPr id="8" name="Shape 6"/>
          <p:cNvSpPr/>
          <p:nvPr/>
        </p:nvSpPr>
        <p:spPr>
          <a:xfrm>
            <a:off x="476250" y="5126831"/>
            <a:ext cx="12858750" cy="1112044"/>
          </a:xfrm>
          <a:prstGeom prst="roundRect">
            <a:avLst>
              <a:gd name="adj" fmla="val 10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" y="5279231"/>
            <a:ext cx="381000" cy="381000"/>
          </a:xfrm>
          <a:prstGeom prst="roundRect">
            <a:avLst>
              <a:gd name="adj" fmla="val 24997500"/>
            </a:avLst>
          </a:prstGeom>
          <a:solidFill>
            <a:srgbClr val="1B3A6B"/>
          </a:solidFill>
          <a:ln/>
        </p:spPr>
      </p:sp>
      <p:sp>
        <p:nvSpPr>
          <p:cNvPr id="10" name="Shape 8"/>
          <p:cNvSpPr/>
          <p:nvPr/>
        </p:nvSpPr>
        <p:spPr>
          <a:xfrm>
            <a:off x="476250" y="6353175"/>
            <a:ext cx="12858750" cy="1112044"/>
          </a:xfrm>
          <a:prstGeom prst="roundRect">
            <a:avLst>
              <a:gd name="adj" fmla="val 10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8650" y="6505575"/>
            <a:ext cx="381000" cy="381000"/>
          </a:xfrm>
          <a:prstGeom prst="roundRect">
            <a:avLst>
              <a:gd name="adj" fmla="val 24997500"/>
            </a:avLst>
          </a:prstGeom>
          <a:solidFill>
            <a:srgbClr val="2E86C1"/>
          </a:solidFill>
          <a:ln/>
        </p:spPr>
      </p:sp>
      <p:sp>
        <p:nvSpPr>
          <p:cNvPr id="12" name="Shape 10"/>
          <p:cNvSpPr/>
          <p:nvPr/>
        </p:nvSpPr>
        <p:spPr>
          <a:xfrm>
            <a:off x="476250" y="7579519"/>
            <a:ext cx="12858750" cy="1112044"/>
          </a:xfrm>
          <a:prstGeom prst="roundRect">
            <a:avLst>
              <a:gd name="adj" fmla="val 10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650" y="7731919"/>
            <a:ext cx="381000" cy="381000"/>
          </a:xfrm>
          <a:prstGeom prst="roundRect">
            <a:avLst>
              <a:gd name="adj" fmla="val 24997500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76250" y="1189434"/>
            <a:ext cx="2682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41"/>
              </a:spcBef>
              <a:spcAft>
                <a:spcPts val="2241"/>
              </a:spcAft>
              <a:buNone/>
            </a:pPr>
            <a:r>
              <a:rPr lang="en-US" sz="2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条，新手必记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76250" y="1950244"/>
            <a:ext cx="268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把这几条变成习惯，你就是工具高手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611100" y="1522809"/>
            <a:ext cx="5867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行为准则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1376" y="2883694"/>
            <a:ext cx="100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2050" y="2959894"/>
            <a:ext cx="121922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每天打开先看左栏「已过期」和「今日到期」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62050" y="3283744"/>
            <a:ext cx="1219220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这是当日工作优先级——先红后橙，闭环处理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398276" y="2826544"/>
            <a:ext cx="862757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📅 每日习惯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1376" y="4110038"/>
            <a:ext cx="100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62050" y="4186238"/>
            <a:ext cx="121922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每周查看红色「优先维护」和橙色「建议维护」名单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62050" y="4510088"/>
            <a:ext cx="1219220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主动出击，不坐等客户找上门——这是你的业绩来源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398276" y="4052888"/>
            <a:ext cx="862757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9731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📅 每周习惯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1376" y="5336381"/>
            <a:ext cx="100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3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62050" y="5412581"/>
            <a:ext cx="121922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每次跟进后必须记录维护记录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62050" y="5736431"/>
            <a:ext cx="1219220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有跟进才有数据，有数据才有转化机会。别只打电话不记录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398276" y="5279231"/>
            <a:ext cx="862757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B3A6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✍️ 核心动作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1376" y="6562725"/>
            <a:ext cx="100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4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62050" y="6638925"/>
            <a:ext cx="1231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新增记录时出行需求尽量填完整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62050" y="6962775"/>
            <a:ext cx="1231793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时节、组合、预算、天数、偏好——这是给你自己的销售素材，日后复盘全靠它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2512576" y="6505575"/>
            <a:ext cx="737027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E86C1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📝 好习惯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1376" y="7789069"/>
            <a:ext cx="100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5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62050" y="7865269"/>
            <a:ext cx="124436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认领客户需谨慎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62050" y="8189119"/>
            <a:ext cx="1244366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认领后业绩和维护责任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同步转移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，不可回退。已归属的会员不可认领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2626876" y="7731919"/>
            <a:ext cx="611297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⚠️ 警告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420600" y="1313259"/>
            <a:ext cx="914400" cy="609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674144"/>
            <a:ext cx="6334125" cy="2449116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6750" y="286464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/>
        </p:spPr>
      </p:sp>
      <p:sp>
        <p:nvSpPr>
          <p:cNvPr id="6" name="Shape 4"/>
          <p:cNvSpPr/>
          <p:nvPr/>
        </p:nvSpPr>
        <p:spPr>
          <a:xfrm>
            <a:off x="666750" y="347424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67C00"/>
          </a:solidFill>
          <a:ln/>
        </p:spPr>
      </p:sp>
      <p:sp>
        <p:nvSpPr>
          <p:cNvPr id="7" name="Shape 5"/>
          <p:cNvSpPr/>
          <p:nvPr/>
        </p:nvSpPr>
        <p:spPr>
          <a:xfrm>
            <a:off x="7000875" y="2674144"/>
            <a:ext cx="6334125" cy="2449116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91375" y="286464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/>
        </p:spPr>
      </p:sp>
      <p:sp>
        <p:nvSpPr>
          <p:cNvPr id="9" name="Shape 7"/>
          <p:cNvSpPr/>
          <p:nvPr/>
        </p:nvSpPr>
        <p:spPr>
          <a:xfrm>
            <a:off x="7191375" y="347424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67C00"/>
          </a:solidFill>
          <a:ln/>
        </p:spPr>
      </p:sp>
      <p:sp>
        <p:nvSpPr>
          <p:cNvPr id="10" name="Shape 8"/>
          <p:cNvSpPr/>
          <p:nvPr/>
        </p:nvSpPr>
        <p:spPr>
          <a:xfrm>
            <a:off x="476250" y="5313759"/>
            <a:ext cx="6334125" cy="2449116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6750" y="550425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666750" y="611385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67C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000875" y="5313759"/>
            <a:ext cx="6334125" cy="2449116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91375" y="550425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91375" y="611385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67C00"/>
          </a:solidFill>
          <a:ln/>
        </p:spPr>
      </p:sp>
      <p:sp>
        <p:nvSpPr>
          <p:cNvPr id="16" name="Text 14"/>
          <p:cNvSpPr/>
          <p:nvPr/>
        </p:nvSpPr>
        <p:spPr>
          <a:xfrm>
            <a:off x="476250" y="1189434"/>
            <a:ext cx="24024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41"/>
              </a:spcBef>
              <a:spcAft>
                <a:spcPts val="2241"/>
              </a:spcAft>
              <a:buNone/>
            </a:pPr>
            <a:r>
              <a:rPr lang="en-US" sz="27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常见问题 FAQ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76250" y="1950244"/>
            <a:ext cx="2402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新人最容易遇到的 4 个问题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11100" y="1522809"/>
            <a:ext cx="5867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常见问题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7209" y="2921794"/>
            <a:ext cx="108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85850" y="2997994"/>
            <a:ext cx="1613535" cy="22860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看不到某个会员怎么办？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0930" y="3531394"/>
            <a:ext cx="101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85850" y="3607594"/>
            <a:ext cx="5354003" cy="254794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确认是否切换到正确的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销售员视图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（顶栏右上角）；仍看不到联系管理员确认归属。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91834" y="2921794"/>
            <a:ext cx="108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Q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10475" y="2997994"/>
            <a:ext cx="2640330" cy="22860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待办里有很多过期的，需要逐条处理吗？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295555" y="3531394"/>
            <a:ext cx="101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10475" y="3607594"/>
            <a:ext cx="3960495" cy="254794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是的，确认处理结果后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手动标记完成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；无效提醒可直接完成。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7209" y="5561409"/>
            <a:ext cx="108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Q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85850" y="5637609"/>
            <a:ext cx="1466850" cy="22860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维护记录可以删除吗？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0930" y="6171009"/>
            <a:ext cx="101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85850" y="6247209"/>
            <a:ext cx="3667125" cy="254794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不可以删除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，只能编辑；所有操作记录留存于操作日志。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91834" y="5561409"/>
            <a:ext cx="108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Q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610475" y="5637609"/>
            <a:ext cx="2420303" cy="22860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修改会员姓名/所在地会同步系统吗？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95555" y="6171009"/>
            <a:ext cx="101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10475" y="6247209"/>
            <a:ext cx="3577575" cy="254794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会，修改后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实时同步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会员中台及 CDP，无需额外操作。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08848" y="1628571"/>
            <a:ext cx="680254" cy="680254"/>
          </a:xfrm>
          <a:prstGeom prst="rect">
            <a:avLst/>
          </a:prstGeom>
          <a:solidFill>
            <a:srgbClr val="E67C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554796" y="5136071"/>
            <a:ext cx="814958" cy="814958"/>
          </a:xfrm>
          <a:prstGeom prst="rect">
            <a:avLst/>
          </a:prstGeom>
          <a:solidFill>
            <a:srgbClr val="2E86C1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01391" y="3111252"/>
            <a:ext cx="1060846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16"/>
              </a:spcBef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开始使用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01391" y="4492377"/>
            <a:ext cx="10608469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spcBef>
                <a:spcPts val="1650"/>
              </a:spcBef>
              <a:spcAft>
                <a:spcPts val="900"/>
              </a:spcAft>
              <a:buNone/>
            </a:pPr>
            <a:r>
              <a:rPr lang="en-US" sz="1650" dirty="0">
                <a:solidFill>
                  <a:srgbClr val="B8C8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遇到问题，随时联系产品团队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01391" y="5098107"/>
            <a:ext cx="106084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8A9B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松赞用户关系助手 · 陪你做好每一次跟进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01391" y="5641032"/>
            <a:ext cx="106084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感谢参与培训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2026-05-26T09:20:53Z</dcterms:created>
  <dcterms:modified xsi:type="dcterms:W3CDTF">2026-05-26T09:20:53Z</dcterms:modified>
</cp:coreProperties>
</file>